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0" roundtripDataSignature="AMtx7mjag6tNjCE3VQQ9pp4U4k3Sz57P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1C7F83-15BB-4CDE-A8B4-15B5F4BEFB62}">
  <a:tblStyle styleId="{811C7F83-15BB-4CDE-A8B4-15B5F4BEFB6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fill>
          <a:solidFill>
            <a:srgbClr val="D0D0D0"/>
          </a:solidFill>
        </a:fill>
      </a:tcStyle>
    </a:band1H>
    <a:band2H>
      <a:tcTxStyle/>
    </a:band2H>
    <a:band1V>
      <a:tcTxStyle/>
      <a:tcStyle>
        <a:fill>
          <a:solidFill>
            <a:srgbClr val="D0D0D0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Raleway-regular.fntdata"/><Relationship Id="rId41" Type="http://schemas.openxmlformats.org/officeDocument/2006/relationships/slide" Target="slides/slide35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Lato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c113ad4c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5c113ad4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c113ad4ce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5c113ad4c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c113ad4ce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5c113ad4c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c113ad4ce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5c113ad4c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c113ad4ce_0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5c113ad4c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c113ad4ce_0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5c113ad4c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113ad4ce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5c113ad4c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c113ad4ce_0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5c113ad4c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c113ad4ce_0_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5c113ad4c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c113ad4ce_0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5c113ad4c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c113ad4ce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5c113ad4c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c113ad4ce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5c113ad4c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c113ad4ce_0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5c113ad4c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c113ad4ce_0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5c113ad4c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c113ad4ce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5c113ad4ce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c113ad4ce_0_2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5c113ad4ce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c113ad4ce_0_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5c113ad4ce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c113ad4ce_0_2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5c113ad4c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c113ad4ce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5c113ad4c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c1578427b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5c1578427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c113ad4ce_0_2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5c113ad4ce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c113ad4ce_0_2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5c113ad4c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c113ad4ce_0_2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5c113ad4ce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c113ad4ce_0_2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5c113ad4ce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5c113ad4ce_0_2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5c113ad4ce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c113ad4ce_0_2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5c113ad4ce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c113ad4ce_0_2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5c113ad4ce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c113ad4ce_0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5c113ad4ce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5c113ad4ce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5c113ad4ce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" name="Google Shape;11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1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1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" name="Google Shape;26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0" name="Google Shape;30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1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4" name="Google Shape;44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1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1" name="Google Shape;51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8" name="Google Shape;58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1" name="Google Shape;61;p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7" name="Google Shape;67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Google Shape;69;p2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3" name="Google Shape;73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2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title"/>
          </p:nvPr>
        </p:nvSpPr>
        <p:spPr>
          <a:xfrm>
            <a:off x="744299" y="1644006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s" sz="2600">
                <a:solidFill>
                  <a:srgbClr val="000F37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🔴 (AC-S04-APF1) Avance de Proyecto Final 1 </a:t>
            </a:r>
            <a:endParaRPr sz="2600">
              <a:solidFill>
                <a:srgbClr val="000F37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s" sz="2600">
                <a:solidFill>
                  <a:srgbClr val="000F37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(Mejorado)</a:t>
            </a:r>
            <a:br>
              <a:rPr lang="es" sz="2600">
                <a:solidFill>
                  <a:srgbClr val="000F37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</a:br>
            <a:endParaRPr sz="2600">
              <a:solidFill>
                <a:srgbClr val="000F37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t/>
            </a:r>
            <a:endParaRPr sz="5400"/>
          </a:p>
        </p:txBody>
      </p:sp>
      <p:sp>
        <p:nvSpPr>
          <p:cNvPr id="87" name="Google Shape;87;p1"/>
          <p:cNvSpPr txBox="1"/>
          <p:nvPr>
            <p:ph idx="1" type="body"/>
          </p:nvPr>
        </p:nvSpPr>
        <p:spPr>
          <a:xfrm>
            <a:off x="621159" y="2946400"/>
            <a:ext cx="5204915" cy="17456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" sz="1700">
                <a:solidFill>
                  <a:schemeClr val="dk2"/>
                </a:solidFill>
              </a:rPr>
              <a:t>Integrantes GRUPO 3 :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Miguel Angel Velasquez Ysuiza           U23231519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Roberto Agustin Mejia Collazos         U23254461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Manuel Angel Pecho Santos                  U23201694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Daniel Sotomayor Beteta                        U22226702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1000"/>
              </a:spcAft>
              <a:buSzPts val="1300"/>
              <a:buNone/>
            </a:pPr>
            <a:r>
              <a:t/>
            </a:r>
            <a:endParaRPr sz="100">
              <a:solidFill>
                <a:schemeClr val="dk2"/>
              </a:solidFill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0925" y="286225"/>
            <a:ext cx="2475149" cy="7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874790" y="783128"/>
            <a:ext cx="7738659" cy="5260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s" sz="1850" u="none" cap="none" strike="noStrike">
                <a:solidFill>
                  <a:schemeClr val="dk2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Curso: Curso Integrador I: Sistemas - Software - Sección 37697</a:t>
            </a:r>
            <a:r>
              <a:rPr b="1" i="0" lang="es" sz="3700" u="none" cap="none" strike="noStrike">
                <a:solidFill>
                  <a:schemeClr val="dk2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c113ad4ce_0_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📌 1. caso propuesto</a:t>
            </a:r>
            <a:endParaRPr/>
          </a:p>
        </p:txBody>
      </p:sp>
      <p:sp>
        <p:nvSpPr>
          <p:cNvPr id="95" name="Google Shape;95;g35c113ad4ce_0_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2000"/>
              <a:t>IMPLEMENTACIÓN DE UN SITIO WEB (ECOMMERS PARA LA VENTA DE PRODUCTOS TECNOLÓGICOS Y/O DE CÓMPUTO)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>
                <a:solidFill>
                  <a:schemeClr val="dk2"/>
                </a:solidFill>
              </a:rPr>
              <a:t>P</a:t>
            </a:r>
            <a:r>
              <a:rPr lang="es">
                <a:solidFill>
                  <a:schemeClr val="dk2"/>
                </a:solidFill>
              </a:rPr>
              <a:t>ropósito desarrollar una aplicación web de comercio electrónico para la empresa UTP Technology, con el fin de facilitar la venta de equipos tecnológicos en línea, como laptops, smartphones, periféricos y accesorios.</a:t>
            </a:r>
            <a:endParaRPr/>
          </a:p>
        </p:txBody>
      </p:sp>
      <p:pic>
        <p:nvPicPr>
          <p:cNvPr id="96" name="Google Shape;96;g35c113ad4c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5c113ad4c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78" y="3638420"/>
            <a:ext cx="1816430" cy="1273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591675" y="537125"/>
            <a:ext cx="83163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2400"/>
              <a:t>👥 2. Modelo de negocio Canvas de UTPTECHNOLOGY</a:t>
            </a:r>
            <a:endParaRPr sz="2400"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4">
            <a:alphaModFix/>
          </a:blip>
          <a:srcRect b="5759" l="2392" r="2677" t="17653"/>
          <a:stretch/>
        </p:blipFill>
        <p:spPr>
          <a:xfrm>
            <a:off x="741750" y="1066725"/>
            <a:ext cx="7660498" cy="386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/>
              <a:t>🧠 3.1. Project charter del proyecto</a:t>
            </a:r>
            <a:endParaRPr/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0350" y="119525"/>
            <a:ext cx="2809651" cy="37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0350" y="3857900"/>
            <a:ext cx="2809650" cy="106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644175" y="596175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2300"/>
              <a:t>🧱 3.2. Desglose de la estructura de tareas WBS</a:t>
            </a:r>
            <a:endParaRPr sz="2300"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88" y="53925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825" y="1146975"/>
            <a:ext cx="8317498" cy="34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727800" y="596175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2200"/>
              <a:t>🧱 3.3. Diagrama de Gantt</a:t>
            </a:r>
            <a:endParaRPr sz="2200"/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38" y="40825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25" y="1072850"/>
            <a:ext cx="8171723" cy="393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446000" y="839388"/>
            <a:ext cx="32778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🧩 4. Requerimientos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           funcionales</a:t>
            </a:r>
            <a:endParaRPr sz="2300"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8" y="342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4475" y="710325"/>
            <a:ext cx="4186725" cy="40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c113ad4ce_0_95"/>
          <p:cNvSpPr txBox="1"/>
          <p:nvPr>
            <p:ph type="title"/>
          </p:nvPr>
        </p:nvSpPr>
        <p:spPr>
          <a:xfrm>
            <a:off x="446000" y="839388"/>
            <a:ext cx="32778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🧩 4. Requerimientos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           no funcionales</a:t>
            </a:r>
            <a:endParaRPr sz="2300"/>
          </a:p>
        </p:txBody>
      </p:sp>
      <p:pic>
        <p:nvPicPr>
          <p:cNvPr id="139" name="Google Shape;139;g35c113ad4ce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8" y="342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5c113ad4ce_0_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0325" y="1198134"/>
            <a:ext cx="4337039" cy="1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5c113ad4ce_0_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325" y="2817511"/>
            <a:ext cx="4337050" cy="10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113ad4ce_0_103"/>
          <p:cNvSpPr txBox="1"/>
          <p:nvPr>
            <p:ph type="title"/>
          </p:nvPr>
        </p:nvSpPr>
        <p:spPr>
          <a:xfrm>
            <a:off x="446000" y="839388"/>
            <a:ext cx="32778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🧩 4. Requerimientos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           otros</a:t>
            </a:r>
            <a:endParaRPr sz="2300"/>
          </a:p>
        </p:txBody>
      </p:sp>
      <p:pic>
        <p:nvPicPr>
          <p:cNvPr id="147" name="Google Shape;147;g35c113ad4ce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8" y="342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5c113ad4ce_0_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0400" y="1543137"/>
            <a:ext cx="4806150" cy="20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c113ad4ce_0_111"/>
          <p:cNvSpPr txBox="1"/>
          <p:nvPr>
            <p:ph type="title"/>
          </p:nvPr>
        </p:nvSpPr>
        <p:spPr>
          <a:xfrm>
            <a:off x="744299" y="1644006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s" sz="2600">
                <a:solidFill>
                  <a:srgbClr val="000F37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🔴 (AC-S08-APF1) Avance de Proyecto Final 2</a:t>
            </a:r>
            <a:br>
              <a:rPr lang="es" sz="2600">
                <a:solidFill>
                  <a:srgbClr val="000F37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</a:br>
            <a:endParaRPr sz="2600">
              <a:solidFill>
                <a:srgbClr val="000F37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t/>
            </a:r>
            <a:endParaRPr sz="5400"/>
          </a:p>
        </p:txBody>
      </p:sp>
      <p:sp>
        <p:nvSpPr>
          <p:cNvPr id="154" name="Google Shape;154;g35c113ad4ce_0_111"/>
          <p:cNvSpPr txBox="1"/>
          <p:nvPr>
            <p:ph idx="1" type="body"/>
          </p:nvPr>
        </p:nvSpPr>
        <p:spPr>
          <a:xfrm>
            <a:off x="621159" y="2946400"/>
            <a:ext cx="5205000" cy="1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" sz="1700">
                <a:solidFill>
                  <a:schemeClr val="dk2"/>
                </a:solidFill>
              </a:rPr>
              <a:t>Integrantes GRUPO 3 :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Miguel Angel Velasquez Ysuiza           U23231519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Roberto Agustin Mejia Collazos         U23254461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Manuel Angel Pecho Santos                  U23201694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Daniel Sotomayor Beteta                        U22226702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1000"/>
              </a:spcAft>
              <a:buSzPts val="1300"/>
              <a:buNone/>
            </a:pPr>
            <a:r>
              <a:t/>
            </a:r>
            <a:endParaRPr sz="100">
              <a:solidFill>
                <a:schemeClr val="dk2"/>
              </a:solidFill>
            </a:endParaRPr>
          </a:p>
        </p:txBody>
      </p:sp>
      <p:pic>
        <p:nvPicPr>
          <p:cNvPr id="155" name="Google Shape;155;g35c113ad4ce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0925" y="286225"/>
            <a:ext cx="2475149" cy="7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5c113ad4ce_0_111"/>
          <p:cNvSpPr txBox="1"/>
          <p:nvPr/>
        </p:nvSpPr>
        <p:spPr>
          <a:xfrm>
            <a:off x="874790" y="783128"/>
            <a:ext cx="7738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s" sz="1850" u="none" cap="none" strike="noStrike">
                <a:solidFill>
                  <a:schemeClr val="dk2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Curso: Curso Integrador I: Sistemas - Software - Sección 37697</a:t>
            </a:r>
            <a:r>
              <a:rPr b="1" i="0" lang="es" sz="3700" u="none" cap="none" strike="noStrike">
                <a:solidFill>
                  <a:schemeClr val="dk2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c113ad4ce_0_125"/>
          <p:cNvSpPr txBox="1"/>
          <p:nvPr>
            <p:ph type="title"/>
          </p:nvPr>
        </p:nvSpPr>
        <p:spPr>
          <a:xfrm>
            <a:off x="147105" y="1389452"/>
            <a:ext cx="31719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👥 2. BPMN – Diagramas de proceso de negocio.</a:t>
            </a:r>
            <a:endParaRPr/>
          </a:p>
        </p:txBody>
      </p:sp>
      <p:pic>
        <p:nvPicPr>
          <p:cNvPr id="162" name="Google Shape;162;g35c113ad4ce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5c113ad4ce_0_125"/>
          <p:cNvSpPr txBox="1"/>
          <p:nvPr/>
        </p:nvSpPr>
        <p:spPr>
          <a:xfrm>
            <a:off x="479514" y="2769097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Raleway"/>
              <a:buNone/>
            </a:pPr>
            <a:r>
              <a:rPr b="1" i="0" lang="es" sz="26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As Is.</a:t>
            </a:r>
            <a:endParaRPr b="1" i="0" sz="26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4" name="Google Shape;164;g35c113ad4ce_0_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8589" y="0"/>
            <a:ext cx="593541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c113ad4ce_0_132"/>
          <p:cNvSpPr txBox="1"/>
          <p:nvPr>
            <p:ph type="title"/>
          </p:nvPr>
        </p:nvSpPr>
        <p:spPr>
          <a:xfrm>
            <a:off x="147105" y="1389452"/>
            <a:ext cx="31719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👥 2. BPMN – Diagramas de proceso de negocio.</a:t>
            </a:r>
            <a:endParaRPr/>
          </a:p>
        </p:txBody>
      </p:sp>
      <p:pic>
        <p:nvPicPr>
          <p:cNvPr id="170" name="Google Shape;170;g35c113ad4ce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5c113ad4ce_0_132"/>
          <p:cNvSpPr txBox="1"/>
          <p:nvPr/>
        </p:nvSpPr>
        <p:spPr>
          <a:xfrm>
            <a:off x="479514" y="2769097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Raleway"/>
              <a:buNone/>
            </a:pPr>
            <a:r>
              <a:rPr b="1" i="0" lang="es" sz="26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To be.</a:t>
            </a:r>
            <a:endParaRPr b="1" i="0" sz="26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2" name="Google Shape;172;g35c113ad4ce_0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0924" y="0"/>
            <a:ext cx="57030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c113ad4ce_0_139"/>
          <p:cNvSpPr txBox="1"/>
          <p:nvPr>
            <p:ph type="title"/>
          </p:nvPr>
        </p:nvSpPr>
        <p:spPr>
          <a:xfrm>
            <a:off x="23140" y="1265101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🎭 3.  Diseño de Base de Datos </a:t>
            </a:r>
            <a:endParaRPr/>
          </a:p>
        </p:txBody>
      </p:sp>
      <p:sp>
        <p:nvSpPr>
          <p:cNvPr id="178" name="Google Shape;178;g35c113ad4ce_0_139"/>
          <p:cNvSpPr txBox="1"/>
          <p:nvPr>
            <p:ph idx="1" type="body"/>
          </p:nvPr>
        </p:nvSpPr>
        <p:spPr>
          <a:xfrm>
            <a:off x="351891" y="2247950"/>
            <a:ext cx="4220100" cy="9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113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9"/>
              <a:buFont typeface="Arial"/>
              <a:buChar char="●"/>
            </a:pPr>
            <a:r>
              <a:rPr lang="es" sz="1600">
                <a:solidFill>
                  <a:schemeClr val="dk2"/>
                </a:solidFill>
              </a:rPr>
              <a:t>1 Diagrama de casos de uso del sistema. Identificación de procesos (CU: Casos de Uso)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79" name="Google Shape;179;g35c113ad4ce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5c113ad4ce_0_1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8263" y="44984"/>
            <a:ext cx="382811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c113ad4ce_0_14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🧠 4-  Refinamiento de los RF y RNF en base a los procesos del sistema (CU)identificados en el diagrama de casos de uso</a:t>
            </a:r>
            <a:endParaRPr/>
          </a:p>
        </p:txBody>
      </p:sp>
      <p:sp>
        <p:nvSpPr>
          <p:cNvPr id="186" name="Google Shape;186;g35c113ad4ce_0_14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87" name="Google Shape;187;g35c113ad4ce_0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5c113ad4ce_0_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6231" y="35052"/>
            <a:ext cx="3653476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5c113ad4ce_0_1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6231" y="2689338"/>
            <a:ext cx="3784736" cy="2419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c113ad4ce_0_15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/>
              <a:t>🧠 5-  Modelo de la Base de Datos</a:t>
            </a:r>
            <a:endParaRPr/>
          </a:p>
        </p:txBody>
      </p:sp>
      <p:sp>
        <p:nvSpPr>
          <p:cNvPr id="195" name="Google Shape;195;g35c113ad4ce_0_15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96" name="Google Shape;196;g35c113ad4ce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5c113ad4ce_0_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9599" y="41499"/>
            <a:ext cx="3710599" cy="319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5c113ad4ce_0_1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3239733"/>
            <a:ext cx="4571770" cy="18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c113ad4ce_0_1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🧱 6. ESQUEMA DEL MODELO </a:t>
            </a:r>
            <a:endParaRPr/>
          </a:p>
        </p:txBody>
      </p:sp>
      <p:pic>
        <p:nvPicPr>
          <p:cNvPr id="204" name="Google Shape;204;g35c113ad4ce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5c113ad4ce_0_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713" y="1826500"/>
            <a:ext cx="6364174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c113ad4ce_0_1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 7. DISEÑO </a:t>
            </a:r>
            <a:r>
              <a:rPr lang="es"/>
              <a:t>LÓGICO</a:t>
            </a:r>
            <a:endParaRPr/>
          </a:p>
        </p:txBody>
      </p:sp>
      <p:pic>
        <p:nvPicPr>
          <p:cNvPr id="211" name="Google Shape;211;g35c113ad4ce_0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5c113ad4ce_0_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200" y="2050025"/>
            <a:ext cx="7233201" cy="20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c113ad4ce_0_174"/>
          <p:cNvSpPr txBox="1"/>
          <p:nvPr>
            <p:ph type="title"/>
          </p:nvPr>
        </p:nvSpPr>
        <p:spPr>
          <a:xfrm>
            <a:off x="729438" y="801475"/>
            <a:ext cx="76887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 8. Modelo Físico de la Base de Datos</a:t>
            </a:r>
            <a:br>
              <a:rPr lang="es"/>
            </a:br>
            <a:r>
              <a:rPr lang="es"/>
              <a:t>Indicar el SGBD, el fabricante, la versión y distribución</a:t>
            </a:r>
            <a:endParaRPr/>
          </a:p>
        </p:txBody>
      </p:sp>
      <p:pic>
        <p:nvPicPr>
          <p:cNvPr id="218" name="Google Shape;218;g35c113ad4ce_0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5c113ad4ce_0_1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2175" y="2234575"/>
            <a:ext cx="461962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c113ad4ce_0_180"/>
          <p:cNvSpPr txBox="1"/>
          <p:nvPr>
            <p:ph type="title"/>
          </p:nvPr>
        </p:nvSpPr>
        <p:spPr>
          <a:xfrm>
            <a:off x="584008" y="751348"/>
            <a:ext cx="76887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/>
              <a:t> 9. Detalle de cada tabla</a:t>
            </a:r>
            <a:endParaRPr/>
          </a:p>
        </p:txBody>
      </p:sp>
      <p:pic>
        <p:nvPicPr>
          <p:cNvPr id="225" name="Google Shape;225;g35c113ad4ce_0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5c113ad4ce_0_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63" y="1826375"/>
            <a:ext cx="8502674" cy="209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c113ad4ce_0_186"/>
          <p:cNvSpPr txBox="1"/>
          <p:nvPr>
            <p:ph type="title"/>
          </p:nvPr>
        </p:nvSpPr>
        <p:spPr>
          <a:xfrm>
            <a:off x="727649" y="684666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10. DIAGRAMA FÍSICO</a:t>
            </a:r>
            <a:endParaRPr/>
          </a:p>
        </p:txBody>
      </p:sp>
      <p:pic>
        <p:nvPicPr>
          <p:cNvPr id="232" name="Google Shape;232;g35c113ad4ce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5c113ad4ce_0_186" title="D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8475" y="1120576"/>
            <a:ext cx="6209973" cy="391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c113ad4ce_0_192"/>
          <p:cNvSpPr txBox="1"/>
          <p:nvPr>
            <p:ph type="title"/>
          </p:nvPr>
        </p:nvSpPr>
        <p:spPr>
          <a:xfrm>
            <a:off x="617921" y="544030"/>
            <a:ext cx="6697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11. PROCESO DE NORMALIZACIÓN EN MYSQL</a:t>
            </a:r>
            <a:endParaRPr/>
          </a:p>
        </p:txBody>
      </p:sp>
      <p:pic>
        <p:nvPicPr>
          <p:cNvPr id="239" name="Google Shape;239;g35c113ad4ce_0_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5c113ad4ce_0_192"/>
          <p:cNvSpPr txBox="1"/>
          <p:nvPr/>
        </p:nvSpPr>
        <p:spPr>
          <a:xfrm>
            <a:off x="1350553" y="1153331"/>
            <a:ext cx="4404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90476"/>
              <a:buFont typeface="Raleway"/>
              <a:buNone/>
            </a:pPr>
            <a:r>
              <a:rPr b="1" i="0" lang="es" sz="26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Paso 1: Crear base de datos </a:t>
            </a:r>
            <a:endParaRPr b="1" i="0" sz="26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1" name="Google Shape;241;g35c113ad4ce_0_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3100" y="1403097"/>
            <a:ext cx="5079948" cy="44560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5c113ad4ce_0_192"/>
          <p:cNvSpPr txBox="1"/>
          <p:nvPr/>
        </p:nvSpPr>
        <p:spPr>
          <a:xfrm>
            <a:off x="1350553" y="1880003"/>
            <a:ext cx="3972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90476"/>
              <a:buFont typeface="Raleway"/>
              <a:buNone/>
            </a:pPr>
            <a:r>
              <a:rPr b="1" i="0" lang="es" sz="26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PASO 2: CREAR TABLAS NORMALIZADAS</a:t>
            </a:r>
            <a:endParaRPr b="1" i="0" sz="26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3" name="Google Shape;243;g35c113ad4ce_0_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3100" y="2137228"/>
            <a:ext cx="4427632" cy="3006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c113ad4ce_0_201"/>
          <p:cNvSpPr txBox="1"/>
          <p:nvPr>
            <p:ph type="title"/>
          </p:nvPr>
        </p:nvSpPr>
        <p:spPr>
          <a:xfrm>
            <a:off x="69548" y="801475"/>
            <a:ext cx="39723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11. PROCESO DE NORMALIZACIÓN EN MYSQL</a:t>
            </a:r>
            <a:endParaRPr/>
          </a:p>
        </p:txBody>
      </p:sp>
      <p:pic>
        <p:nvPicPr>
          <p:cNvPr id="249" name="Google Shape;249;g35c113ad4ce_0_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5c113ad4ce_0_201"/>
          <p:cNvSpPr txBox="1"/>
          <p:nvPr/>
        </p:nvSpPr>
        <p:spPr>
          <a:xfrm>
            <a:off x="69548" y="2553781"/>
            <a:ext cx="3972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90476"/>
              <a:buFont typeface="Raleway"/>
              <a:buNone/>
            </a:pPr>
            <a:r>
              <a:rPr b="1" i="0" lang="es" sz="26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PASO 2: CREAR TABLAS NORMALIZADAS</a:t>
            </a:r>
            <a:endParaRPr b="1" i="0" sz="26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51" name="Google Shape;251;g35c113ad4ce_0_201"/>
          <p:cNvPicPr preferRelativeResize="0"/>
          <p:nvPr/>
        </p:nvPicPr>
        <p:blipFill rotWithShape="1">
          <a:blip r:embed="rId4">
            <a:alphaModFix/>
          </a:blip>
          <a:srcRect b="91381" l="0" r="0" t="0"/>
          <a:stretch/>
        </p:blipFill>
        <p:spPr>
          <a:xfrm>
            <a:off x="4794625" y="203100"/>
            <a:ext cx="3001350" cy="49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5c113ad4ce_0_201"/>
          <p:cNvPicPr preferRelativeResize="0"/>
          <p:nvPr/>
        </p:nvPicPr>
        <p:blipFill rotWithShape="1">
          <a:blip r:embed="rId4">
            <a:alphaModFix/>
          </a:blip>
          <a:srcRect b="0" l="0" r="0" t="26937"/>
          <a:stretch/>
        </p:blipFill>
        <p:spPr>
          <a:xfrm>
            <a:off x="4794643" y="702931"/>
            <a:ext cx="3001314" cy="4237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c113ad4ce_0_208"/>
          <p:cNvSpPr txBox="1"/>
          <p:nvPr>
            <p:ph type="title"/>
          </p:nvPr>
        </p:nvSpPr>
        <p:spPr>
          <a:xfrm>
            <a:off x="173257" y="801475"/>
            <a:ext cx="39723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11. PROCESO DE NORMALIZACIÓN EN MYSQL</a:t>
            </a:r>
            <a:endParaRPr/>
          </a:p>
        </p:txBody>
      </p:sp>
      <p:pic>
        <p:nvPicPr>
          <p:cNvPr id="258" name="Google Shape;258;g35c113ad4ce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5c113ad4ce_0_208"/>
          <p:cNvSpPr txBox="1"/>
          <p:nvPr/>
        </p:nvSpPr>
        <p:spPr>
          <a:xfrm>
            <a:off x="432166" y="2571750"/>
            <a:ext cx="31431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Raleway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PASO 3: INSERTAR LOS DATOS NORMALIZADOS DESDE EL CSV</a:t>
            </a:r>
            <a:endParaRPr b="1" i="0" sz="2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60" name="Google Shape;260;g35c113ad4ce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503" y="110101"/>
            <a:ext cx="4423032" cy="4923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c113ad4ce_0_215"/>
          <p:cNvSpPr txBox="1"/>
          <p:nvPr>
            <p:ph type="title"/>
          </p:nvPr>
        </p:nvSpPr>
        <p:spPr>
          <a:xfrm>
            <a:off x="173257" y="801475"/>
            <a:ext cx="39723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11. PROCESO DE NORMALIZACIÓN EN MYSQL</a:t>
            </a:r>
            <a:endParaRPr/>
          </a:p>
        </p:txBody>
      </p:sp>
      <p:pic>
        <p:nvPicPr>
          <p:cNvPr id="266" name="Google Shape;266;g35c113ad4ce_0_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5c113ad4ce_0_215"/>
          <p:cNvSpPr txBox="1"/>
          <p:nvPr/>
        </p:nvSpPr>
        <p:spPr>
          <a:xfrm>
            <a:off x="432166" y="2571750"/>
            <a:ext cx="31431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Raleway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PASO 3: INSERTAR LOS DATOS NORMALIZADOS DESDE EL CSV</a:t>
            </a:r>
            <a:endParaRPr b="1" i="0" sz="2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68" name="Google Shape;268;g35c113ad4ce_0_215"/>
          <p:cNvPicPr preferRelativeResize="0"/>
          <p:nvPr/>
        </p:nvPicPr>
        <p:blipFill rotWithShape="1">
          <a:blip r:embed="rId4">
            <a:alphaModFix/>
          </a:blip>
          <a:srcRect b="28109" l="0" r="0" t="0"/>
          <a:stretch/>
        </p:blipFill>
        <p:spPr>
          <a:xfrm>
            <a:off x="4715313" y="185150"/>
            <a:ext cx="4255429" cy="4520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c113ad4ce_0_222"/>
          <p:cNvSpPr txBox="1"/>
          <p:nvPr>
            <p:ph type="title"/>
          </p:nvPr>
        </p:nvSpPr>
        <p:spPr>
          <a:xfrm>
            <a:off x="173257" y="801475"/>
            <a:ext cx="39723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11. PROCESO DE NORMALIZACIÓN EN MYSQL</a:t>
            </a:r>
            <a:endParaRPr/>
          </a:p>
        </p:txBody>
      </p:sp>
      <p:pic>
        <p:nvPicPr>
          <p:cNvPr id="274" name="Google Shape;274;g35c113ad4ce_0_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5c113ad4ce_0_222"/>
          <p:cNvSpPr txBox="1"/>
          <p:nvPr/>
        </p:nvSpPr>
        <p:spPr>
          <a:xfrm>
            <a:off x="432166" y="2571750"/>
            <a:ext cx="31431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Raleway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PASO 3: INSERTAR LOS DATOS NORMALIZADOS DESDE EL CSV</a:t>
            </a:r>
            <a:endParaRPr b="1" i="0" sz="2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76" name="Google Shape;276;g35c113ad4ce_0_2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5133" y="661416"/>
            <a:ext cx="5472071" cy="4203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c1578427b_0_7"/>
          <p:cNvSpPr txBox="1"/>
          <p:nvPr>
            <p:ph type="title"/>
          </p:nvPr>
        </p:nvSpPr>
        <p:spPr>
          <a:xfrm>
            <a:off x="173257" y="801475"/>
            <a:ext cx="39723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11. PROCESO DE NORMALIZACIÓN EN MYSQL</a:t>
            </a:r>
            <a:endParaRPr/>
          </a:p>
        </p:txBody>
      </p:sp>
      <p:pic>
        <p:nvPicPr>
          <p:cNvPr id="282" name="Google Shape;282;g35c1578427b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5c1578427b_0_7"/>
          <p:cNvSpPr txBox="1"/>
          <p:nvPr/>
        </p:nvSpPr>
        <p:spPr>
          <a:xfrm>
            <a:off x="432166" y="2571750"/>
            <a:ext cx="31431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7"/>
              <a:buFont typeface="Raleway"/>
              <a:buNone/>
            </a:pPr>
            <a:r>
              <a:rPr b="1" i="0" lang="e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PASO 3: INSERTAR LOS DATOS NORMALIZADOS DESDE EL CSV</a:t>
            </a:r>
            <a:endParaRPr b="1" i="0" sz="2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84" name="Google Shape;284;g35c1578427b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2857" y="1886950"/>
            <a:ext cx="440055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c113ad4ce_0_229"/>
          <p:cNvSpPr txBox="1"/>
          <p:nvPr>
            <p:ph type="title"/>
          </p:nvPr>
        </p:nvSpPr>
        <p:spPr>
          <a:xfrm>
            <a:off x="2907725" y="185150"/>
            <a:ext cx="53040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4000"/>
              <a:t> 12. </a:t>
            </a:r>
            <a:r>
              <a:rPr lang="es" sz="3200">
                <a:latin typeface="Calibri"/>
                <a:ea typeface="Calibri"/>
                <a:cs typeface="Calibri"/>
                <a:sym typeface="Calibri"/>
              </a:rPr>
              <a:t>DICCIONARIO DE DATOS </a:t>
            </a:r>
            <a:endParaRPr sz="4000"/>
          </a:p>
        </p:txBody>
      </p:sp>
      <p:pic>
        <p:nvPicPr>
          <p:cNvPr id="290" name="Google Shape;290;g35c113ad4ce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5c113ad4ce_0_2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775" y="1106488"/>
            <a:ext cx="3358075" cy="293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5c113ad4ce_0_2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3518" y="1080650"/>
            <a:ext cx="3262744" cy="383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c113ad4ce_0_235"/>
          <p:cNvSpPr txBox="1"/>
          <p:nvPr>
            <p:ph type="title"/>
          </p:nvPr>
        </p:nvSpPr>
        <p:spPr>
          <a:xfrm>
            <a:off x="0" y="493312"/>
            <a:ext cx="40539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🧩 </a:t>
            </a:r>
            <a:r>
              <a:rPr lang="es" sz="4000"/>
              <a:t>13</a:t>
            </a:r>
            <a:r>
              <a:rPr lang="es"/>
              <a:t>. </a:t>
            </a:r>
            <a:r>
              <a:rPr lang="es" sz="4000">
                <a:latin typeface="Arial"/>
                <a:ea typeface="Arial"/>
                <a:cs typeface="Arial"/>
                <a:sym typeface="Arial"/>
              </a:rPr>
              <a:t>PROTOTIPOS</a:t>
            </a:r>
            <a:endParaRPr/>
          </a:p>
        </p:txBody>
      </p:sp>
      <p:pic>
        <p:nvPicPr>
          <p:cNvPr id="298" name="Google Shape;298;g35c113ad4ce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5c113ad4ce_0_235"/>
          <p:cNvSpPr txBox="1"/>
          <p:nvPr/>
        </p:nvSpPr>
        <p:spPr>
          <a:xfrm>
            <a:off x="92684" y="2516985"/>
            <a:ext cx="34578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rPr b="0" i="0" lang="e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4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t/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nterfaz de usuario gráfica, Aplicación&#10;&#10;El contenido generado por IA puede ser incorrecto." id="300" name="Google Shape;300;g35c113ad4ce_0_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3111" y="0"/>
            <a:ext cx="5500892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c113ad4ce_0_242"/>
          <p:cNvSpPr txBox="1"/>
          <p:nvPr>
            <p:ph type="title"/>
          </p:nvPr>
        </p:nvSpPr>
        <p:spPr>
          <a:xfrm>
            <a:off x="0" y="493312"/>
            <a:ext cx="40539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🧩 </a:t>
            </a:r>
            <a:r>
              <a:rPr lang="es" sz="4000"/>
              <a:t>13</a:t>
            </a:r>
            <a:r>
              <a:rPr lang="es"/>
              <a:t>. </a:t>
            </a:r>
            <a:r>
              <a:rPr lang="es" sz="4000">
                <a:latin typeface="Arial"/>
                <a:ea typeface="Arial"/>
                <a:cs typeface="Arial"/>
                <a:sym typeface="Arial"/>
              </a:rPr>
              <a:t>PROTOTIPOS</a:t>
            </a:r>
            <a:endParaRPr/>
          </a:p>
        </p:txBody>
      </p:sp>
      <p:pic>
        <p:nvPicPr>
          <p:cNvPr id="306" name="Google Shape;306;g35c113ad4ce_0_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5c113ad4ce_0_242"/>
          <p:cNvSpPr txBox="1"/>
          <p:nvPr/>
        </p:nvSpPr>
        <p:spPr>
          <a:xfrm>
            <a:off x="170222" y="2333934"/>
            <a:ext cx="40539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rPr b="0" i="0" lang="e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ACERCA.HTML</a:t>
            </a:r>
            <a:endParaRPr b="0" i="0" sz="4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nterfaz de usuario gráfica, Aplicación&#10;&#10;El contenido generado por IA puede ser incorrecto." id="308" name="Google Shape;308;g35c113ad4ce_0_2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782" y="0"/>
            <a:ext cx="4258994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c113ad4ce_0_249"/>
          <p:cNvSpPr txBox="1"/>
          <p:nvPr>
            <p:ph type="title"/>
          </p:nvPr>
        </p:nvSpPr>
        <p:spPr>
          <a:xfrm>
            <a:off x="0" y="493312"/>
            <a:ext cx="40539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🧩 </a:t>
            </a:r>
            <a:r>
              <a:rPr lang="es" sz="4000"/>
              <a:t>13</a:t>
            </a:r>
            <a:r>
              <a:rPr lang="es"/>
              <a:t>. </a:t>
            </a:r>
            <a:r>
              <a:rPr lang="es" sz="4000">
                <a:latin typeface="Arial"/>
                <a:ea typeface="Arial"/>
                <a:cs typeface="Arial"/>
                <a:sym typeface="Arial"/>
              </a:rPr>
              <a:t>PROTOTIPOS</a:t>
            </a:r>
            <a:endParaRPr/>
          </a:p>
        </p:txBody>
      </p:sp>
      <p:pic>
        <p:nvPicPr>
          <p:cNvPr id="314" name="Google Shape;314;g35c113ad4ce_0_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5c113ad4ce_0_249"/>
          <p:cNvSpPr txBox="1"/>
          <p:nvPr/>
        </p:nvSpPr>
        <p:spPr>
          <a:xfrm>
            <a:off x="-261011" y="2290430"/>
            <a:ext cx="47478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rPr b="0" i="0" lang="e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PRODUCTOS.HTML</a:t>
            </a:r>
            <a:endParaRPr b="0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nterfaz de usuario gráfica&#10;&#10;El contenido generado por IA puede ser incorrecto." id="316" name="Google Shape;316;g35c113ad4ce_0_2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4911" y="66294"/>
            <a:ext cx="5359092" cy="5010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5c113ad4ce_0_256"/>
          <p:cNvSpPr txBox="1"/>
          <p:nvPr>
            <p:ph type="title"/>
          </p:nvPr>
        </p:nvSpPr>
        <p:spPr>
          <a:xfrm>
            <a:off x="2498319" y="-77635"/>
            <a:ext cx="4147500" cy="10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2000"/>
              <a:t>🧩 </a:t>
            </a:r>
            <a:r>
              <a:rPr lang="es" sz="3200"/>
              <a:t>13</a:t>
            </a:r>
            <a:r>
              <a:rPr lang="es" sz="2000"/>
              <a:t>. </a:t>
            </a:r>
            <a:r>
              <a:rPr lang="es" sz="3200">
                <a:latin typeface="Arial"/>
                <a:ea typeface="Arial"/>
                <a:cs typeface="Arial"/>
                <a:sym typeface="Arial"/>
              </a:rPr>
              <a:t>PROTOTIPOS</a:t>
            </a:r>
            <a:endParaRPr sz="2000"/>
          </a:p>
        </p:txBody>
      </p:sp>
      <p:pic>
        <p:nvPicPr>
          <p:cNvPr id="322" name="Google Shape;322;g35c113ad4ce_0_2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8026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5c113ad4ce_0_256"/>
          <p:cNvSpPr txBox="1"/>
          <p:nvPr/>
        </p:nvSpPr>
        <p:spPr>
          <a:xfrm>
            <a:off x="6336634" y="-77635"/>
            <a:ext cx="5064600" cy="11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rPr b="0" i="0" lang="e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LOGIN.HTML</a:t>
            </a:r>
            <a:endParaRPr b="0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nterfaz de usuario gráfica, Aplicación&#10;&#10;El contenido generado por IA puede ser incorrecto." id="324" name="Google Shape;324;g35c113ad4ce_0_2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432" y="448457"/>
            <a:ext cx="6705845" cy="473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c113ad4ce_0_263"/>
          <p:cNvSpPr txBox="1"/>
          <p:nvPr>
            <p:ph type="title"/>
          </p:nvPr>
        </p:nvSpPr>
        <p:spPr>
          <a:xfrm>
            <a:off x="0" y="493312"/>
            <a:ext cx="40539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🧩 </a:t>
            </a:r>
            <a:r>
              <a:rPr lang="es" sz="4000"/>
              <a:t>13</a:t>
            </a:r>
            <a:r>
              <a:rPr lang="es"/>
              <a:t>. </a:t>
            </a:r>
            <a:r>
              <a:rPr lang="es" sz="4000">
                <a:latin typeface="Arial"/>
                <a:ea typeface="Arial"/>
                <a:cs typeface="Arial"/>
                <a:sym typeface="Arial"/>
              </a:rPr>
              <a:t>PROTOTIPOS</a:t>
            </a:r>
            <a:endParaRPr/>
          </a:p>
        </p:txBody>
      </p:sp>
      <p:pic>
        <p:nvPicPr>
          <p:cNvPr id="330" name="Google Shape;330;g35c113ad4ce_0_2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5c113ad4ce_0_263"/>
          <p:cNvSpPr txBox="1"/>
          <p:nvPr/>
        </p:nvSpPr>
        <p:spPr>
          <a:xfrm>
            <a:off x="-236627" y="2448924"/>
            <a:ext cx="46137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rPr b="0" i="0" lang="es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SERVICIOS.HTML</a:t>
            </a:r>
            <a:endParaRPr b="0" i="0" sz="3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nterfaz de usuario gráfica, Aplicación&#10;&#10;El contenido generado por IA puede ser incorrecto." id="332" name="Google Shape;332;g35c113ad4ce_0_2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4343" y="0"/>
            <a:ext cx="537965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c113ad4ce_0_270"/>
          <p:cNvSpPr txBox="1"/>
          <p:nvPr>
            <p:ph type="title"/>
          </p:nvPr>
        </p:nvSpPr>
        <p:spPr>
          <a:xfrm>
            <a:off x="0" y="493312"/>
            <a:ext cx="40539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🧩 </a:t>
            </a:r>
            <a:r>
              <a:rPr lang="es" sz="4000"/>
              <a:t>13</a:t>
            </a:r>
            <a:r>
              <a:rPr lang="es"/>
              <a:t>. </a:t>
            </a:r>
            <a:r>
              <a:rPr lang="es" sz="4000">
                <a:latin typeface="Arial"/>
                <a:ea typeface="Arial"/>
                <a:cs typeface="Arial"/>
                <a:sym typeface="Arial"/>
              </a:rPr>
              <a:t>PROTOTIPOS</a:t>
            </a:r>
            <a:endParaRPr/>
          </a:p>
        </p:txBody>
      </p:sp>
      <p:pic>
        <p:nvPicPr>
          <p:cNvPr id="338" name="Google Shape;338;g35c113ad4ce_0_2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5c113ad4ce_0_270"/>
          <p:cNvSpPr txBox="1"/>
          <p:nvPr/>
        </p:nvSpPr>
        <p:spPr>
          <a:xfrm>
            <a:off x="-236627" y="2448924"/>
            <a:ext cx="5113500" cy="16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rPr b="0" i="0" lang="e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CONTACTOS.HTML</a:t>
            </a:r>
            <a:endParaRPr b="0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>
                <a:schemeClr val="accent1"/>
              </a:buClr>
              <a:buSzPts val="1600"/>
              <a:buFont typeface="Lato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nterfaz de usuario gráfica&#10;&#10;El contenido generado por IA puede ser incorrecto." id="340" name="Google Shape;340;g35c113ad4ce_0_2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3966" y="0"/>
            <a:ext cx="50200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5c113ad4ce_0_277"/>
          <p:cNvSpPr txBox="1"/>
          <p:nvPr>
            <p:ph type="title"/>
          </p:nvPr>
        </p:nvSpPr>
        <p:spPr>
          <a:xfrm>
            <a:off x="-85345" y="633984"/>
            <a:ext cx="45009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3200"/>
              <a:t> 14. </a:t>
            </a:r>
            <a:r>
              <a:rPr lang="es" sz="3200">
                <a:latin typeface="Arial"/>
                <a:ea typeface="Arial"/>
                <a:cs typeface="Arial"/>
                <a:sym typeface="Arial"/>
              </a:rPr>
              <a:t>ESCENARIOS DE INTERACCIÓN</a:t>
            </a:r>
            <a:endParaRPr sz="3200"/>
          </a:p>
        </p:txBody>
      </p:sp>
      <p:pic>
        <p:nvPicPr>
          <p:cNvPr id="346" name="Google Shape;346;g35c113ad4ce_0_2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7" name="Google Shape;347;g35c113ad4ce_0_277"/>
          <p:cNvGraphicFramePr/>
          <p:nvPr/>
        </p:nvGraphicFramePr>
        <p:xfrm>
          <a:off x="4572000" y="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{811C7F83-15BB-4CDE-A8B4-15B5F4BEFB62}</a:tableStyleId>
              </a:tblPr>
              <a:tblGrid>
                <a:gridCol w="628800"/>
                <a:gridCol w="1039500"/>
                <a:gridCol w="650250"/>
                <a:gridCol w="2182325"/>
              </a:tblGrid>
              <a:tr h="25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Escenario N°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Nombre del Escenario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Actor Principal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Descripción del Escenario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  <a:tr h="3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Registro de cliente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Cliente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El usuario se registra en el sitio web completando un formulario con sus datos personales.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Inicio de sesión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Cliente / Usuario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El usuario ingresa sus credenciales para acceder al sistema.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Navegación de productos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Cliente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El cliente navega por las categorías y visualiza productos en el catálogo.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Agregar productos al carrito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Cliente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El cliente selecciona productos para comprarlos y los añade al carrito.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  <a:tr h="3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Realizar pedido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Cliente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El cliente confirma el carrito, selecciona la dirección y método de pago, y realiza el pedido.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  <a:tr h="33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Gestión de productos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Usuario (Admin)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El administrador agrega, edita o elimina productos desde el panel de administración.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Gestión de clientes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Usuario (Admin)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El usuario administrador puede ver y gestionar los clientes registrados.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  <a:tr h="3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Consulta de pedidos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Cliente / Usuario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El cliente puede consultar sus pedidos realizados, y el administrador puede revisarlos.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  <a:tr h="3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Envío de confirmación por correo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Sistema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Luego de completar un pedido, el sistema envía una confirmación al cliente.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  <a:tr h="3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Actualización del stock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Sistema / Usuario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 u="none" cap="none" strike="noStrike"/>
                        <a:t>Después de una compra, el sistema descuenta automáticamente el stock del producto.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25" marB="6625" marR="6625" marL="6625" anchor="ctr"/>
                </a:tc>
              </a:tr>
            </a:tbl>
          </a:graphicData>
        </a:graphic>
      </p:graphicFrame>
      <p:sp>
        <p:nvSpPr>
          <p:cNvPr id="348" name="Google Shape;348;g35c113ad4ce_0_277"/>
          <p:cNvSpPr txBox="1"/>
          <p:nvPr/>
        </p:nvSpPr>
        <p:spPr>
          <a:xfrm>
            <a:off x="0" y="3712464"/>
            <a:ext cx="45009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</a:pPr>
            <a:r>
              <a:rPr b="1" i="0" lang="es" sz="2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15. </a:t>
            </a:r>
            <a:r>
              <a:rPr b="1" i="0" lang="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HERRAMIENTA QUE UTILIZA</a:t>
            </a:r>
            <a:endParaRPr b="1" i="0" sz="2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349" name="Google Shape;349;g35c113ad4ce_0_277"/>
          <p:cNvGraphicFramePr/>
          <p:nvPr/>
        </p:nvGraphicFramePr>
        <p:xfrm>
          <a:off x="4643133" y="36819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{811C7F83-15BB-4CDE-A8B4-15B5F4BEFB62}</a:tableStyleId>
              </a:tblPr>
              <a:tblGrid>
                <a:gridCol w="969750"/>
                <a:gridCol w="3531125"/>
              </a:tblGrid>
              <a:tr h="20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</a:rPr>
                        <a:t>Herramienta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</a:rPr>
                        <a:t>Uso principal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40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</a:rPr>
                        <a:t>Draw.io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</a:rPr>
                        <a:t>Para diagramar los casos de uso y flujos de interacción. Gratis y en línea.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40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</a:rPr>
                        <a:t>Lucidchart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</a:rPr>
                        <a:t>Ideal para modelar procesos, diagramas de flujo y escenarios colaborativos.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40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</a:rPr>
                        <a:t>Balsamiq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</a:rPr>
                        <a:t>Para crear wireframes y prototipos rápidos de las interfaces del sistema web.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c113ad4ce_0_285"/>
          <p:cNvSpPr txBox="1"/>
          <p:nvPr>
            <p:ph type="title"/>
          </p:nvPr>
        </p:nvSpPr>
        <p:spPr>
          <a:xfrm>
            <a:off x="2921550" y="178850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6700"/>
              <a:t>Gracias</a:t>
            </a:r>
            <a:endParaRPr sz="6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MIGUEL ANGEL</dc:creator>
</cp:coreProperties>
</file>